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92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ONE BCG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" y="10972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ToolEngine v2026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47472" y="2103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The ONE BCG AI Tool Invocation Backbone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" y="2724912"/>
            <a:ext cx="768096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834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Multi-tenant  ·  .NET 8  ·  Production-ready  ·  AI-governed  ·  Compliance-first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4434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May 2026  |  Presented by ONE BCG Engineering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Why We Built This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54864" cy="54864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252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No controlled execution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AI agents invoke tools directly — no validation, no approval gate, no audit trail.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54864" cy="54864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385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Ungoverned LLM calls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LLMs answer out-of-scope queries freely. No mechanism to classify or contain agent behaviour at runtime.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4864" cy="54864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517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Cost overruns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077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Runaway agent loops and uncapped token usage generate uncontrolled spend with no per-tenant budget visibility.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54864" cy="54864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649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Compliance exposure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2102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GDPR, EU AI Act Art. 14, and SOC 2 require human-in-the-loop for high-risk decisions. Nothing enforces this.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78224"/>
            <a:ext cx="54864" cy="54864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7822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Fragile extensibility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33425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Adding a tool, provider, or tenant requires surgery on core code. No plugin contract exists.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 production-grade AI tool invocation platform for ONE BCG.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6052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Governed Tool Execution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3794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Every invocation passes 7 pipeline behaviors — auth, validation, budgets, loop detection, approval, audit.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16052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087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Multi-Tenant Isolation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83794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Namespace-level allow/deny lists. Each tenant sees only their tools. No cross-tenant data leakage possible.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32888"/>
            <a:ext cx="416052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243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624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Human-in-the-Loop Approval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95351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Risk-tiered: Low auto-approves, Medium/High route to dashboard/webhook, Critical requires OTP.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2532888"/>
            <a:ext cx="416052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6243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4960" y="2624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LLM Agent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295351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Scope classifier, tool guard, grounding reminder, fallback chain — three providers behind one interface.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648456"/>
            <a:ext cx="416052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39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739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Full Observability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06908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OpenTelemetry traces, Serilog structured logs with PII masking, per-tenant budget meters.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3648456"/>
            <a:ext cx="416052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7398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3739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Compliance by Design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406908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NIST AI RMF, EU AI Act Art. 14, ISO 42001, SOC 2 CC6/CC7, GDPR — built in, not bolted on.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Clean 6-Layer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530352"/>
          </a:xfrm>
          <a:prstGeom prst="rect">
            <a:avLst/>
          </a:prstGeom>
          <a:solidFill>
            <a:srgbClr val="CC2222"/>
          </a:solidFill>
          <a:ln w="19050">
            <a:solidFill>
              <a:srgbClr val="CC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2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Hosts  (API / CLI)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54680" y="11612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ASP.NET Core Minimal API · JWT auth · Rate limiter · Scalar UI · Program.cs startup validation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719072"/>
            <a:ext cx="8321040" cy="530352"/>
          </a:xfrm>
          <a:prstGeom prst="rect">
            <a:avLst/>
          </a:prstGeom>
          <a:solidFill>
            <a:srgbClr val="CC5522"/>
          </a:solidFill>
          <a:ln w="19050">
            <a:solidFill>
              <a:srgbClr val="CC55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46120" y="17647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CQRS + MediatR · 7 pipeline behaviors from TenantAuth through to Audit · No infra references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322576"/>
            <a:ext cx="8138160" cy="530352"/>
          </a:xfrm>
          <a:prstGeom prst="rect">
            <a:avLst/>
          </a:prstGeom>
          <a:solidFill>
            <a:srgbClr val="595959">
              <a:alpha val="18000"/>
            </a:srgbClr>
          </a:solidFill>
          <a:ln w="19050">
            <a:solidFill>
              <a:srgbClr val="5959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682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37560" y="23682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EF Core repos · Serilog · OpenTelemetry · Approval channels · Outbox dispatcher · LLM provider DI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926080"/>
            <a:ext cx="7955280" cy="530352"/>
          </a:xfrm>
          <a:prstGeom prst="rect">
            <a:avLst/>
          </a:prstGeom>
          <a:solidFill>
            <a:srgbClr val="336699">
              <a:alpha val="18000"/>
            </a:srgbClr>
          </a:solidFill>
          <a:ln w="19050">
            <a:solidFill>
              <a:srgbClr val="3366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71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669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Llm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2971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AgentOrchestrator · ScopeClassifier · ScopeEnforcer · ToolGuard · Anthropic / OpenAI / Ollama adapters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529584"/>
            <a:ext cx="7772400" cy="530352"/>
          </a:xfrm>
          <a:prstGeom prst="rect">
            <a:avLst/>
          </a:prstGeom>
          <a:solidFill>
            <a:srgbClr val="448844">
              <a:alpha val="18000"/>
            </a:srgbClr>
          </a:solidFill>
          <a:ln w="19050">
            <a:solidFill>
              <a:srgbClr val="4488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575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8844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Tools.*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0440" y="35753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Concrete tool implementations — standalone projects, zero infra coupling, registered via AddTool&lt;&gt;()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4133088"/>
            <a:ext cx="7589520" cy="530352"/>
          </a:xfrm>
          <a:prstGeom prst="rect">
            <a:avLst/>
          </a:prstGeom>
          <a:solidFill>
            <a:srgbClr val="222222">
              <a:alpha val="18000"/>
            </a:srgbClr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788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Core.Domain  /  Core.Abstractions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11880" y="41788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Entities · Value objects · Result&lt;T&gt; · Contracts · Constants · Zero external dependencies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↑ depends on layers below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PATTERNS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Design Philosophy — 17 Applied Patterns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" y="1261872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7899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Clean Architecture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078992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74136" y="1261872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07899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Domain Driven Design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078992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08776" y="1261872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07899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CQRS + MediatR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1700784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" y="1883664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70078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Railway / Result&lt;T&gt;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1700784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74136" y="1883664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70078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Decorator (Behaviors)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1700784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8776" y="1883664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70078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Repository + UoW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2322576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" y="2505456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322576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Outbox Pattern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2322576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74136" y="2505456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2322576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Specification Pattern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2322576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8776" y="2505456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322576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Strategy (Providers)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2944368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" y="3127248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294436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Factory Method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46120" y="2944368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74136" y="3127248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294436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Plugin / Registry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80760" y="2944368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08776" y="3127248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294436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Idempotency Keys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3566160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3749040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356616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Scope Classification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46120" y="3566160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74136" y="3749040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0" y="356616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Circuit Breaker (Budget)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080760" y="3566160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08776" y="3749040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356616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W3C TraceContext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11480" y="4187952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9496" y="4370832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418795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FrozenDictionary Cache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246120" y="4187952"/>
            <a:ext cx="2697480" cy="51206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74136" y="4370832"/>
            <a:ext cx="118872" cy="118872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66160" y="418795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Prompt Externalisation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11480" y="4663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Every pattern chosen to reduce coupling, maximise testability, and enable extensibility without touching existing code.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DATA FLOW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How a Request Flows Through ToolEngine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280160"/>
            <a:ext cx="1261872" cy="932688"/>
          </a:xfrm>
          <a:prstGeom prst="rect">
            <a:avLst/>
          </a:prstGeom>
          <a:solidFill>
            <a:srgbClr val="F0F0F0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325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608" y="1609344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HTTP / CLI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" y="18470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JWT validated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Claims extracted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554480" y="1746504"/>
            <a:ext cx="19751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1990" y="1280160"/>
            <a:ext cx="1261872" cy="932688"/>
          </a:xfrm>
          <a:prstGeom prst="rect">
            <a:avLst/>
          </a:prstGeom>
          <a:solidFill>
            <a:srgbClr val="F0F0F0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51990" y="1325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51990" y="1609344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7 Behaviors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51990" y="18470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Auth→Valid→Budget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Loop→Approval→Audit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013862" y="1746504"/>
            <a:ext cx="19751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1373" y="1280160"/>
            <a:ext cx="1261872" cy="932688"/>
          </a:xfrm>
          <a:prstGeom prst="rect">
            <a:avLst/>
          </a:prstGeom>
          <a:solidFill>
            <a:srgbClr val="F0F0F0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1373" y="1325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11373" y="1609344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Tool Handler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11373" y="18470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Registry resolve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DI-scoped execution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73245" y="1746504"/>
            <a:ext cx="19751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70755" y="1280160"/>
            <a:ext cx="1261872" cy="932688"/>
          </a:xfrm>
          <a:prstGeom prst="rect">
            <a:avLst/>
          </a:prstGeom>
          <a:solidFill>
            <a:srgbClr val="222222"/>
          </a:solidFill>
          <a:ln w="1016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0755" y="1325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70755" y="1609344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LLM Agent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70755" y="18470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Classify→Guard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Orchestrate→Ground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32627" y="1746504"/>
            <a:ext cx="19751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30138" y="1280160"/>
            <a:ext cx="1261872" cy="932688"/>
          </a:xfrm>
          <a:prstGeom prst="rect">
            <a:avLst/>
          </a:prstGeom>
          <a:solidFill>
            <a:srgbClr val="CC2222"/>
          </a:solidFill>
          <a:ln w="10160">
            <a:solidFill>
              <a:srgbClr val="CC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0138" y="1325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30138" y="1609344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Approval Gate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30138" y="18470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Risk scored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Route to channel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392010" y="1746504"/>
            <a:ext cx="19751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1280160"/>
            <a:ext cx="1261872" cy="932688"/>
          </a:xfrm>
          <a:prstGeom prst="rect">
            <a:avLst/>
          </a:prstGeom>
          <a:solidFill>
            <a:srgbClr val="F0F0F0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13258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589520" y="1609344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Response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0" y="18470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OTel span closed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Audit event emitted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7200" y="2359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MediatR behaviors wrap the handler as decorators — each concern layered, independently testable, open/closed.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2761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Synchronous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090672"/>
            <a:ext cx="54864" cy="22860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090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POST /tools/{ns}/{name}/{v}/invoke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429000"/>
            <a:ext cx="54864" cy="22860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34290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Blocking — awaits full pipeline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767328"/>
            <a:ext cx="54864" cy="22860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7673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200 OK or 202 Accepted on approval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2761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Streaming SSE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3090672"/>
            <a:ext cx="54864" cy="22860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3090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POST /tools/{ns}/{name}/{v}/stream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429000"/>
            <a:ext cx="54864" cy="22860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56048" y="34290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Server-Sent Events — handler yields chunks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3767328"/>
            <a:ext cx="54864" cy="22860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56048" y="37673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Text/event-stream; no buffering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GUARDS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7 Pipeline Guards — Every Request Protected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84048" y="107899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1078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TenantAuthorization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10789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Trigger: Tenant not in namespace allowlist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03720" y="1170432"/>
            <a:ext cx="1965960" cy="274320"/>
          </a:xfrm>
          <a:prstGeom prst="rect">
            <a:avLst/>
          </a:prstGeom>
          <a:solidFill>
            <a:srgbClr val="CC2222">
              <a:alpha val="80000"/>
            </a:srgbClr>
          </a:solidFill>
          <a:ln w="10160">
            <a:solidFill>
              <a:srgbClr val="CC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170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401 Unauthorized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536192"/>
            <a:ext cx="8503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956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15956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5956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Trigger: Input fails FluentValidation rules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03720" y="1687068"/>
            <a:ext cx="1965960" cy="274320"/>
          </a:xfrm>
          <a:prstGeom prst="rect">
            <a:avLst/>
          </a:prstGeom>
          <a:solidFill>
            <a:srgbClr val="996600">
              <a:alpha val="80000"/>
            </a:srgbClr>
          </a:solidFill>
          <a:ln w="10160">
            <a:solidFill>
              <a:srgbClr val="996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6870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400 Bad Request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052828"/>
            <a:ext cx="8503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112264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" y="21122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TokenBudget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211226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Trigger: Session token ceiling reached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2203704"/>
            <a:ext cx="1965960" cy="274320"/>
          </a:xfrm>
          <a:prstGeom prst="rect">
            <a:avLst/>
          </a:prstGeom>
          <a:solidFill>
            <a:srgbClr val="CC2222">
              <a:alpha val="80000"/>
            </a:srgbClr>
          </a:solidFill>
          <a:ln w="10160">
            <a:solidFill>
              <a:srgbClr val="CC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2037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429 Budget Exceeded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2569464"/>
            <a:ext cx="8503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6289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9808" y="26289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DailyBudget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46120" y="26289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Trigger: Tenant daily spend limit exceeded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03720" y="2720340"/>
            <a:ext cx="1965960" cy="274320"/>
          </a:xfrm>
          <a:prstGeom prst="rect">
            <a:avLst/>
          </a:prstGeom>
          <a:solidFill>
            <a:srgbClr val="CC2222">
              <a:alpha val="80000"/>
            </a:srgbClr>
          </a:solidFill>
          <a:ln w="10160">
            <a:solidFill>
              <a:srgbClr val="CC22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27203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429 Budget Exceeded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3086100"/>
            <a:ext cx="8503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145536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" y="3145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LoopDetection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46120" y="31455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Trigger: &gt; MaxCalls per correlationId in TTL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03720" y="3236976"/>
            <a:ext cx="1965960" cy="274320"/>
          </a:xfrm>
          <a:prstGeom prst="rect">
            <a:avLst/>
          </a:prstGeom>
          <a:solidFill>
            <a:srgbClr val="CC2222">
              <a:alpha val="80000"/>
            </a:srgbClr>
          </a:solidFill>
          <a:ln w="10160">
            <a:solidFill>
              <a:srgbClr val="CC22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32369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429 Loop Detected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" y="3602736"/>
            <a:ext cx="8503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66217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49808" y="36621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Approval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46120" y="36621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Trigger: Risk ≥ Medium or explicit approval flag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03720" y="3753612"/>
            <a:ext cx="1965960" cy="274320"/>
          </a:xfrm>
          <a:prstGeom prst="rect">
            <a:avLst/>
          </a:prstGeom>
          <a:solidFill>
            <a:srgbClr val="336699">
              <a:alpha val="80000"/>
            </a:srgbClr>
          </a:solidFill>
          <a:ln w="10160">
            <a:solidFill>
              <a:srgbClr val="3366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37536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202 Pending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" y="4119372"/>
            <a:ext cx="85039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17880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7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49808" y="4178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Audit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46120" y="41788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Trigger: Always — success and failure paths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03720" y="4270248"/>
            <a:ext cx="1965960" cy="274320"/>
          </a:xfrm>
          <a:prstGeom prst="rect">
            <a:avLst/>
          </a:prstGeom>
          <a:solidFill>
            <a:srgbClr val="336633">
              <a:alpha val="80000"/>
            </a:srgbClr>
          </a:solidFill>
          <a:ln w="10160">
            <a:solidFill>
              <a:srgbClr val="3366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4270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Event emitted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TOOL CREATION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Creating a Tool — 4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389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32688" y="1216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Input / 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179576"/>
            <a:ext cx="5989320" cy="7955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216152"/>
            <a:ext cx="5715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WeatherInput(string City, string Unit = "C");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WeatherOutput(double Temp, string Desc);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4389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02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103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Implement IToolHandler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2066544"/>
            <a:ext cx="5989320" cy="7955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103120"/>
            <a:ext cx="5715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WeatherTool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ToolHandlerBase&lt;WeatherInput, WeatherOutput&gt;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override async Task&lt;Result&lt;WeatherOutput&gt;&gt;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ExecuteAsync(ToolRequest&lt;WeatherInput&gt; req, CancellationToken ct)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/* call weather API */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916936"/>
            <a:ext cx="4389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32688" y="2990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Decorate with [Tool]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2953512"/>
            <a:ext cx="5989320" cy="7955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990088"/>
            <a:ext cx="5715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[Tool(Namespace: "weather", Name: "current", Version: "1.0",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Description: "Get current conditions for a city.",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Risk: RiskLevel.Low)]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803904"/>
            <a:ext cx="4389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04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32688" y="3877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Register via Extension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3840480"/>
            <a:ext cx="5989320" cy="7955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3877056"/>
            <a:ext cx="5715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 line in your DI setup: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services.AddTool&lt;WeatherInput, WeatherOutput, WeatherTool&gt;();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Auto-registers handler + metadata in IToolRegistry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REGISTRY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Tool Registry — How Tools Are Discovered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02336" y="1252728"/>
            <a:ext cx="274320" cy="27432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" y="1527048"/>
            <a:ext cx="0" cy="40233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170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Assembly Scan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1444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AddTool&lt;&gt;() registers handler type + ToolDescriptor in the DI container at startup.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2336" y="1920240"/>
            <a:ext cx="274320" cy="27432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496" y="2194560"/>
            <a:ext cx="0" cy="40233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837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IToolRegistry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2112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Singleton store keyed by {namespace}.{name}@{version}. Supports per-tenant overrides.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2587752"/>
            <a:ext cx="274320" cy="27432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" y="2862072"/>
            <a:ext cx="0" cy="40233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505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Resolve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" y="2779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Resolve(ns, name, version, tenantId) returns ToolDescriptor or a failure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2336" y="3255264"/>
            <a:ext cx="274320" cy="27432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" y="3529584"/>
            <a:ext cx="0" cy="40233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GET /tools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4672" y="3447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Serialisable ToolSummaryResponse projections — HandlerType excluded for safety.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2336" y="3922776"/>
            <a:ext cx="274320" cy="27432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840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GET /versions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" y="4114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GET /tools/{ns}/{name}/versions — lists all registered versions for a tool.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1078992"/>
            <a:ext cx="3931920" cy="3611880"/>
          </a:xfrm>
          <a:prstGeom prst="rect">
            <a:avLst/>
          </a:prstGeom>
          <a:solidFill>
            <a:srgbClr val="2A2A2A"/>
          </a:solidFill>
          <a:ln w="10160">
            <a:solidFill>
              <a:srgbClr val="383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ToolDescriptor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14813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FullName        →  weather.current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7492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      →  weather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74920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→  current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74920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        →  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74920" y="2505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    →  string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74920" y="27614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           →  Logic | Data | Gateway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4920" y="3017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           →  Low | Medium | High | Critical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4920" y="3273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IsEnabled       →  bool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74920" y="35295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TenantId        →  null = global tool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74920" y="37856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HandlerType     →  System.Type  (DI key)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4920" y="4041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InputSchema     →  JSON Schema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74920" y="4297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OutputSchema    →  JSON Schema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APPROVAL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Approval Workflow — Risk-Tiered Human-in-the-Loop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3000" cy="2743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Risk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115568"/>
            <a:ext cx="2148840" cy="2743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115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Behaviour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0" y="1115568"/>
            <a:ext cx="2606040" cy="2743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1155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Channel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115568"/>
            <a:ext cx="2423160" cy="2743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1155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417320"/>
            <a:ext cx="1143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1417320"/>
            <a:ext cx="2148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417320"/>
            <a:ext cx="2606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417320"/>
            <a:ext cx="2423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417320"/>
            <a:ext cx="1143000" cy="347472"/>
          </a:xfrm>
          <a:prstGeom prst="rect">
            <a:avLst/>
          </a:prstGeom>
          <a:solidFill>
            <a:srgbClr val="336633">
              <a:alpha val="85000"/>
            </a:srgbClr>
          </a:solidFill>
          <a:ln w="10160">
            <a:solidFill>
              <a:srgbClr val="3366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4173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14173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Auto-approve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49040" y="14173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1417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No HitL required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1801368"/>
            <a:ext cx="114300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1801368"/>
            <a:ext cx="214884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1801368"/>
            <a:ext cx="260604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1801368"/>
            <a:ext cx="242316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1801368"/>
            <a:ext cx="1143000" cy="347472"/>
          </a:xfrm>
          <a:prstGeom prst="rect">
            <a:avLst/>
          </a:prstGeom>
          <a:solidFill>
            <a:srgbClr val="997700">
              <a:alpha val="85000"/>
            </a:srgbClr>
          </a:solidFill>
          <a:ln w="10160">
            <a:solidFill>
              <a:srgbClr val="997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8013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Medium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54480" y="18013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Suspend + notify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49040" y="1801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Dashboard / Webhook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1801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Logged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2185416"/>
            <a:ext cx="1143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54480" y="2185416"/>
            <a:ext cx="2148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49040" y="2185416"/>
            <a:ext cx="2606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2185416"/>
            <a:ext cx="2423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185416"/>
            <a:ext cx="1143000" cy="347472"/>
          </a:xfrm>
          <a:prstGeom prst="rect">
            <a:avLst/>
          </a:prstGeom>
          <a:solidFill>
            <a:srgbClr val="CC2222">
              <a:alpha val="85000"/>
            </a:srgbClr>
          </a:solidFill>
          <a:ln w="10160">
            <a:solidFill>
              <a:srgbClr val="CC22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1854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High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54480" y="2185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Suspend + notify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49040" y="21854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Dashboard / Email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0" y="21854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Audit trail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2569464"/>
            <a:ext cx="114300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54480" y="2569464"/>
            <a:ext cx="214884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49040" y="2569464"/>
            <a:ext cx="260604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2569464"/>
            <a:ext cx="242316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2569464"/>
            <a:ext cx="1143000" cy="347472"/>
          </a:xfrm>
          <a:prstGeom prst="rect">
            <a:avLst/>
          </a:prstGeom>
          <a:solidFill>
            <a:srgbClr val="880000">
              <a:alpha val="85000"/>
            </a:srgbClr>
          </a:solidFill>
          <a:ln w="10160">
            <a:solidFill>
              <a:srgbClr val="88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56946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554480" y="256946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Suspend + OTP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749040" y="25694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Email OTP (PBKDF2)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00800" y="25694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EU AI Act Art.14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5760" y="3063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State Machine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3383280"/>
            <a:ext cx="1691640" cy="384048"/>
          </a:xfrm>
          <a:prstGeom prst="rect">
            <a:avLst/>
          </a:prstGeom>
          <a:solidFill>
            <a:srgbClr val="595959">
              <a:alpha val="85000"/>
            </a:srgbClr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383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Pending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057400" y="3575304"/>
            <a:ext cx="6400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31720" y="3383280"/>
            <a:ext cx="1691640" cy="384048"/>
          </a:xfrm>
          <a:prstGeom prst="rect">
            <a:avLst/>
          </a:prstGeom>
          <a:solidFill>
            <a:srgbClr val="336633">
              <a:alpha val="85000"/>
            </a:srgbClr>
          </a:solidFill>
          <a:ln w="12700">
            <a:solidFill>
              <a:srgbClr val="3366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31720" y="3383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Approved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023360" y="3575304"/>
            <a:ext cx="6400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97680" y="3383280"/>
            <a:ext cx="1691640" cy="384048"/>
          </a:xfrm>
          <a:prstGeom prst="rect">
            <a:avLst/>
          </a:prstGeom>
          <a:solidFill>
            <a:srgbClr val="CC2222">
              <a:alpha val="85000"/>
            </a:srgbClr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97680" y="3383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Denied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989320" y="3575304"/>
            <a:ext cx="6400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63640" y="3383280"/>
            <a:ext cx="1691640" cy="384048"/>
          </a:xfrm>
          <a:prstGeom prst="rect">
            <a:avLst/>
          </a:prstGeom>
          <a:solidFill>
            <a:srgbClr val="888888">
              <a:alpha val="85000"/>
            </a:srgbClr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63640" y="33832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Expired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38862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Idempotency-Key prevents duplicate rows on retry.  OTP PBKDF2 + FixedTimeEquals prevents timing-oracle attacks.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LLM AGENT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LLM Agent Layer — Contained, Governed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1664208"/>
          </a:xfrm>
          <a:prstGeom prst="rect">
            <a:avLst/>
          </a:prstGeom>
          <a:solidFill>
            <a:srgbClr val="2A2A2A"/>
          </a:solidFill>
          <a:ln w="10160">
            <a:solidFill>
              <a:srgbClr val="383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160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AgentScopeClassifier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15179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Pre-flight LLM call before main orchestration loop starts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" y="18196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Returns structured JSON: in_scope / out_of_scope / mixed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" y="2121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Mixed: in-scope portion forwarded; rest noted in reply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" y="24231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Fails open — classification errors pass through safely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60520" cy="1664208"/>
          </a:xfrm>
          <a:prstGeom prst="rect">
            <a:avLst/>
          </a:prstGeom>
          <a:solidFill>
            <a:srgbClr val="2A2A2A"/>
          </a:solidFill>
          <a:ln w="10160">
            <a:solidFill>
              <a:srgbClr val="3838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97280"/>
            <a:ext cx="4160520" cy="54864"/>
          </a:xfrm>
          <a:prstGeom prst="rect">
            <a:avLst/>
          </a:prstGeom>
          <a:solidFill>
            <a:srgbClr val="44AAFF"/>
          </a:solidFill>
          <a:ln w="12700">
            <a:solidFill>
              <a:srgbClr val="44A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AA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AgentScopeEnforcer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82896" y="15179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Builds system prompt from all available tool descriptions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82896" y="18196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Injects behavioural rules from externalised prompts.json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82896" y="2121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No hardcoded prompt strings — all tuneable at deploy time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82896" y="24231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IPromptStore injected via DI; FrozenDictionary — O(1) reads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4160520" cy="1664208"/>
          </a:xfrm>
          <a:prstGeom prst="rect">
            <a:avLst/>
          </a:prstGeom>
          <a:solidFill>
            <a:srgbClr val="2A2A2A"/>
          </a:solidFill>
          <a:ln w="10160">
            <a:solidFill>
              <a:srgbClr val="3838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26080"/>
            <a:ext cx="4160520" cy="54864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8844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ToolGuard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" y="33467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Pre-LLM: blocked tools invisible to model (schema filter)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" y="36484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Post-selection: defence-in-depth against prompt injection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" y="39502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Pattern syntax: exact / wildcard (math.*) / global (*)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" y="4251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DeniedTools overrides AllowedTools — deny always wins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160520" cy="1664208"/>
          </a:xfrm>
          <a:prstGeom prst="rect">
            <a:avLst/>
          </a:prstGeom>
          <a:solidFill>
            <a:srgbClr val="2A2A2A"/>
          </a:solidFill>
          <a:ln w="10160">
            <a:solidFill>
              <a:srgbClr val="3838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26080"/>
            <a:ext cx="4160520" cy="54864"/>
          </a:xfrm>
          <a:prstGeom prst="rect">
            <a:avLst/>
          </a:prstGeom>
          <a:solidFill>
            <a:srgbClr val="88CC44"/>
          </a:solidFill>
          <a:ln w="12700">
            <a:solidFill>
              <a:srgbClr val="88CC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CC44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AgentOrchestrator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82896" y="33467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Runs agentic loop: classify → select → execute → ground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82896" y="36484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Token budget checked before each LLM call in the loop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82896" y="39502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MaxIterations hard stop (default 5) prevents runaway cost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82896" y="4251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— Grounding reminder injected per response for accuracy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LLM PROVIDERS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LLM Provider Strategy — One Interface, Three Providers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503920" cy="1170432"/>
          </a:xfrm>
          <a:prstGeom prst="rect">
            <a:avLst/>
          </a:prstGeom>
          <a:solidFill>
            <a:srgbClr val="FAFAFA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64008" cy="117043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07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Anthropic Claude Sonnet 4.5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463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Primary — production default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1664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Best cost-to-accuracy for tool routing in 2026 consulting workloads. ScopeClassifier always overrides temperature to 0.0 for deterministic classification.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0482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~$3 / $15 per 1M input/output tokens  |  30s timeout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207008"/>
            <a:ext cx="3931920" cy="1005840"/>
          </a:xfrm>
          <a:prstGeom prst="rect">
            <a:avLst/>
          </a:prstGeom>
          <a:solidFill>
            <a:srgbClr val="F3F3F3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24358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"DefaultProvider": "anthropic"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"Model": "claude-sonnet-4-5"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"Temperature": 1.0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ANTHROPIC_API_KEY env var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8503920" cy="1170432"/>
          </a:xfrm>
          <a:prstGeom prst="rect">
            <a:avLst/>
          </a:prstGeom>
          <a:solidFill>
            <a:srgbClr val="FAFAFA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77440"/>
            <a:ext cx="64008" cy="117043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468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OpenAI GPT-4o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2724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Fallback — automatic failover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Strong tool-use accuracy. Activated automatically when Anthropic returns non-200 or times out. Caller sees no change.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" y="33101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~$2.50 / $10 per 1M input/output tokens  |  30s timeout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3931920" cy="1005840"/>
          </a:xfrm>
          <a:prstGeom prst="rect">
            <a:avLst/>
          </a:prstGeom>
          <a:solidFill>
            <a:srgbClr val="F3F3F3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50545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"FallbackChain": ["openai","ollama"]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"Model": "gpt-4o"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"Temperature": 1.0  (range 0–2)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OPENAI_API_KEY env var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503920" cy="1170432"/>
          </a:xfrm>
          <a:prstGeom prst="rect">
            <a:avLst/>
          </a:prstGeom>
          <a:solidFill>
            <a:srgbClr val="FAFAFA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39312"/>
            <a:ext cx="64008" cy="1170432"/>
          </a:xfrm>
          <a:prstGeom prst="rect">
            <a:avLst/>
          </a:prstGeom>
          <a:solidFill>
            <a:srgbClr val="336699"/>
          </a:solidFill>
          <a:ln w="12700">
            <a:solidFill>
              <a:srgbClr val="3366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7307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Ollama  (Local / Self-hosted)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39867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669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Development &amp; data-residency deployments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" y="4187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Zero API cost. Air-gapped deployments. Default in Development environment — no cloud spend during dev/test cycles.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" y="4572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Free — compute cost only  |  120s timeout (cold-start model load)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730752"/>
            <a:ext cx="3931920" cy="1005840"/>
          </a:xfrm>
          <a:prstGeom prst="rect">
            <a:avLst/>
          </a:prstGeom>
          <a:solidFill>
            <a:srgbClr val="F3F3F3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76732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"DefaultProvider": "ollama"  (dev only)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"Model": "llama3.1:8b"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"BaseUrl": "http://localhost:11434"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API key required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CLI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CLI — Run, Test &amp; Manage From the Terminal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251960" cy="356616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4023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run --project src/Hosts/ToolEngine.Api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36592" y="1115568"/>
            <a:ext cx="4251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Start API — Development, SQLite, Ollama default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40764"/>
            <a:ext cx="4251960" cy="356616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40764"/>
            <a:ext cx="4023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/dev/token?tenant=onebcg-dev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36592" y="1540764"/>
            <a:ext cx="4251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8-hour dev JWT — Development environment only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4251960" cy="356616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65960"/>
            <a:ext cx="4023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/tools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36592" y="1965960"/>
            <a:ext cx="4251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List all registered tools (name, version, schema, risk)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391156"/>
            <a:ext cx="4251960" cy="356616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391156"/>
            <a:ext cx="4023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/tools/{ns}/{name}/{v}/invoke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36592" y="2391156"/>
            <a:ext cx="4251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Invoke tool synchronously — 200 OK or 202 Accepted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16352"/>
            <a:ext cx="4251960" cy="356616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16352"/>
            <a:ext cx="4023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/tools/{ns}/{name}/{v}/stream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36592" y="2816352"/>
            <a:ext cx="4251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Stream tool response via Server-Sent Events (SSE)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41548"/>
            <a:ext cx="4251960" cy="356616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241548"/>
            <a:ext cx="4023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/agent/chat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36592" y="3241548"/>
            <a:ext cx="4251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Multi-turn LLM session — scope-classified, tool-guarded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666744"/>
            <a:ext cx="4251960" cy="356616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666744"/>
            <a:ext cx="4023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/approvals/pending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36592" y="3666744"/>
            <a:ext cx="4251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List pending approvals for the authenticated tenant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091940"/>
            <a:ext cx="4251960" cy="356616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091940"/>
            <a:ext cx="4023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/approvals/{token}/decide?action=approve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36592" y="4091940"/>
            <a:ext cx="4251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Magic-link approve/deny — token is the shared secret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517136"/>
            <a:ext cx="4251960" cy="356616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517136"/>
            <a:ext cx="4023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/invocations/{id}/status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36592" y="4517136"/>
            <a:ext cx="4251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Poll approval status for a suspended invocation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SCALABILITY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Scalability &amp; Resilience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60520" cy="786384"/>
          </a:xfrm>
          <a:prstGeom prst="rect">
            <a:avLst/>
          </a:prstGeom>
          <a:solidFill>
            <a:srgbClr val="FAFAFA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64008" cy="78638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704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Horizontal scale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4447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SQLite → PostgreSQL / SQL Server via single config key. Redis replaces in-memory cache. Zero code change.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115568"/>
            <a:ext cx="4160520" cy="786384"/>
          </a:xfrm>
          <a:prstGeom prst="rect">
            <a:avLst/>
          </a:prstGeom>
          <a:solidFill>
            <a:srgbClr val="FAFAFA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15568"/>
            <a:ext cx="64008" cy="78638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1704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Outbox pattern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5192" y="14447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Approval events persist across pod restarts. Dispatcher retries up to 5× with backoff. No lost notifications.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4160520" cy="786384"/>
          </a:xfrm>
          <a:prstGeom prst="rect">
            <a:avLst/>
          </a:prstGeom>
          <a:solidFill>
            <a:srgbClr val="FAFAFA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011680"/>
            <a:ext cx="64008" cy="78638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06654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Idempotency keys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3408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Idempotency-Key header prevents duplicate PendingApproval rows on retry — safe for at-least-once delivery.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011680"/>
            <a:ext cx="4160520" cy="786384"/>
          </a:xfrm>
          <a:prstGeom prst="rect">
            <a:avLst/>
          </a:prstGeom>
          <a:solidFill>
            <a:srgbClr val="FAFAFA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011680"/>
            <a:ext cx="64008" cy="78638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06654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OTP rate limiting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65192" y="23408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10 attempts per IP / 10 min. Per-token lockout after 5 failures. OWASP MFA Cheat Sheet compliant.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907792"/>
            <a:ext cx="4160520" cy="786384"/>
          </a:xfrm>
          <a:prstGeom prst="rect">
            <a:avLst/>
          </a:prstGeom>
          <a:solidFill>
            <a:srgbClr val="FAFAFA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907792"/>
            <a:ext cx="64008" cy="78638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96265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Token circuit-breaker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323697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MaxTokensPerSession checked before every LLM call. MaxIterations hard-stops the loop. No runaway spend.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907792"/>
            <a:ext cx="4160520" cy="786384"/>
          </a:xfrm>
          <a:prstGeom prst="rect">
            <a:avLst/>
          </a:prstGeom>
          <a:solidFill>
            <a:srgbClr val="FAFAFA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907792"/>
            <a:ext cx="64008" cy="78638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96265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LLM fallback chain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65192" y="323697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Anthropic → OpenAI → Ollama. Provider failures are transparent. Timeouts: 30s / 30s / 120s, all tunable.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803904"/>
            <a:ext cx="4160520" cy="786384"/>
          </a:xfrm>
          <a:prstGeom prst="rect">
            <a:avLst/>
          </a:prstGeom>
          <a:solidFill>
            <a:srgbClr val="FAFAFA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803904"/>
            <a:ext cx="64008" cy="78638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85876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FrozenDictionary cache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" y="41330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Prompts loaded once at startup — lock-free reads, O(1) lookup, zero allocations per request.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803904"/>
            <a:ext cx="4160520" cy="786384"/>
          </a:xfrm>
          <a:prstGeom prst="rect">
            <a:avLst/>
          </a:prstGeom>
          <a:solidFill>
            <a:srgbClr val="FAFAFA"/>
          </a:solidFill>
          <a:ln w="1016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803904"/>
            <a:ext cx="64008" cy="78638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385876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Tenant isolation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65192" y="41330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Tool resolution and budget counters keyed by tenantId. No shared mutable state across tenants.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Compliance Coverage — Built In, Not Bolted 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60520" cy="1645920"/>
          </a:xfrm>
          <a:prstGeom prst="rect">
            <a:avLst/>
          </a:prstGeom>
          <a:solidFill>
            <a:srgbClr val="2A2A2A"/>
          </a:solidFill>
          <a:ln w="10160">
            <a:solidFill>
              <a:srgbClr val="383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4160520" cy="5486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EU AI Act — Article 14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15544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· Human oversight enforced for high-risk AI decisions via approval gate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" y="192938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· Risk tier (Low→Critical) attributed to every tool at registration 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" y="23042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· Full audit trail: approver identity, decision timestamp, denial reason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115568"/>
            <a:ext cx="4160520" cy="1645920"/>
          </a:xfrm>
          <a:prstGeom prst="rect">
            <a:avLst/>
          </a:prstGeom>
          <a:solidFill>
            <a:srgbClr val="2A2A2A"/>
          </a:solidFill>
          <a:ln w="10160">
            <a:solidFill>
              <a:srgbClr val="3838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115568"/>
            <a:ext cx="4160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NIST AI RMF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28616" y="15544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· GOVERN: scope classification prevents out-of-domain AI responses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28616" y="192938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· MEASURE: per-tenant token budget meters and daily spend tracking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28616" y="23042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· MANAGE: tool guard blocks sensitive namespaces by configuration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871216"/>
            <a:ext cx="4160520" cy="1645920"/>
          </a:xfrm>
          <a:prstGeom prst="rect">
            <a:avLst/>
          </a:prstGeom>
          <a:solidFill>
            <a:srgbClr val="2A2A2A"/>
          </a:solidFill>
          <a:ln w="10160">
            <a:solidFill>
              <a:srgbClr val="3838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71216"/>
            <a:ext cx="4160520" cy="54864"/>
          </a:xfrm>
          <a:prstGeom prst="rect">
            <a:avLst/>
          </a:prstGeom>
          <a:solidFill>
            <a:srgbClr val="44AAFF"/>
          </a:solidFill>
          <a:ln w="12700">
            <a:solidFill>
              <a:srgbClr val="44A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962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AA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ISO 42001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" y="33101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· X-Governance-Metadata header carries AI management metadata per call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" y="36850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· Tool lifecycle documented from registration through deprecation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" y="405993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· Prompts version-controlled in prompts.json — no silent drift possible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2871216"/>
            <a:ext cx="4160520" cy="1645920"/>
          </a:xfrm>
          <a:prstGeom prst="rect">
            <a:avLst/>
          </a:prstGeom>
          <a:solidFill>
            <a:srgbClr val="2A2A2A"/>
          </a:solidFill>
          <a:ln w="10160">
            <a:solidFill>
              <a:srgbClr val="3838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2871216"/>
            <a:ext cx="4160520" cy="54864"/>
          </a:xfrm>
          <a:prstGeom prst="rect">
            <a:avLst/>
          </a:prstGeom>
          <a:solidFill>
            <a:srgbClr val="88CC44"/>
          </a:solidFill>
          <a:ln w="12700">
            <a:solidFill>
              <a:srgbClr val="88CC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2962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CC44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SOC 2  CC6 / CC7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28616" y="33101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· CC6: JWT HMAC-SHA256 minimum 32-byte key — enforced at startup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28616" y="36850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· CC6: tenant claim isolation — cross-tenant invocation is impossible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28616" y="405993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· CC7: audit event on every invocation; Serilog PII masking on all logs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Confidential — Internal Use Only  |  ONE BCG  | 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74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2222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ONE BCG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" y="9601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ToolEngine v2026 is production-ready.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47472" y="1691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D700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What comes next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" y="2084832"/>
            <a:ext cx="182880" cy="18288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665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Deploy staging — swap SQLite → PostgreSQL, enable Redis cache, connect OTLP collector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2560320"/>
            <a:ext cx="182880" cy="18288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42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Onboard first tenant — configure namespace allowlist, daily budget, approval channel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035808"/>
            <a:ext cx="182880" cy="18288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Implement first production tool — 4-step pattern, register, JSON schema, unit 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3511296"/>
            <a:ext cx="182880" cy="18288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93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Connect LLM agent to client workflow — POST /agent/chat, review ScopeClassifier traces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986784"/>
            <a:ext cx="182880" cy="18288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684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Enable OpenTelemetry export — Jaeger/Grafana, set SLO alerts on budget and error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4645152"/>
            <a:ext cx="8503920" cy="0"/>
          </a:xfrm>
          <a:prstGeom prst="line">
            <a:avLst/>
          </a:prstGeom>
          <a:noFill/>
          <a:ln w="10160">
            <a:solidFill>
              <a:srgbClr val="5959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709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senal" pitchFamily="34" charset="0"/>
                <a:ea typeface="Arsenal" pitchFamily="34" charset="-122"/>
                <a:cs typeface="Arsenal" pitchFamily="34" charset="-120"/>
              </a:rPr>
              <a:t>ONE BCG  |  ToolEngine v2026  |  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ToolEngine v2026 — Stakeholder Presentation</dc:title>
  <dc:subject>PptxGenJS Presentation</dc:subject>
  <dc:creator>ONE BCG</dc:creator>
  <cp:lastModifiedBy>ONE BCG</cp:lastModifiedBy>
  <cp:revision>1</cp:revision>
  <dcterms:created xsi:type="dcterms:W3CDTF">2026-05-27T18:26:53Z</dcterms:created>
  <dcterms:modified xsi:type="dcterms:W3CDTF">2026-05-27T18:26:53Z</dcterms:modified>
</cp:coreProperties>
</file>